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4"/>
  </p:notesMasterIdLst>
  <p:sldIdLst>
    <p:sldId id="294" r:id="rId2"/>
    <p:sldId id="280" r:id="rId3"/>
    <p:sldId id="292" r:id="rId4"/>
    <p:sldId id="293" r:id="rId5"/>
    <p:sldId id="283" r:id="rId6"/>
    <p:sldId id="298" r:id="rId7"/>
    <p:sldId id="302" r:id="rId8"/>
    <p:sldId id="301" r:id="rId9"/>
    <p:sldId id="287" r:id="rId10"/>
    <p:sldId id="288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B1938-613E-4344-A53D-29A49CC8FB8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FCBD6-1587-407D-AC78-0111435C8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61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0C47D-8ED8-435E-8209-F69F5CD88164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35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5C0B0-3771-468E-8305-3064A0EF002E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3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9AE34-4E8C-467A-95DE-E8FA5CE17A21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4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3CC1-05AD-46CA-A341-A20766F53744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7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EEEF2-7115-4392-8A0D-827E2E43A535}" type="datetime1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2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7086-32F1-43E8-9574-43BE386ABCA5}" type="datetime1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2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99BC8-7450-436D-BFE0-A8C341B8564C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2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B6CBC-DBF7-4D41-94E5-DE499916896F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5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01E68-7C86-4E8B-88E9-6834DFE29890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AB11-442A-476B-AE9C-B1212225BA4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F8F0-AD70-4FD3-A694-F2399694D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31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AB11-442A-476B-AE9C-B1212225BA4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F8F0-AD70-4FD3-A694-F2399694D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38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AB11-442A-476B-AE9C-B1212225BA4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F8F0-AD70-4FD3-A694-F2399694DEF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5637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AB11-442A-476B-AE9C-B1212225BA4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F8F0-AD70-4FD3-A694-F2399694D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333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AB11-442A-476B-AE9C-B1212225BA4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F8F0-AD70-4FD3-A694-F2399694DEF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789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AB11-442A-476B-AE9C-B1212225BA4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F8F0-AD70-4FD3-A694-F2399694D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32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B4AE-F596-41B1-B08F-1E38F4A8324C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15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0706-D231-4584-ACF4-939BCECE7C63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87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11AB11-442A-476B-AE9C-B1212225BA4A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E57F8F0-AD70-4FD3-A694-F2399694D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4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E6B9B6-33D5-527D-DD5C-D6C5DA4C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5831E-C825-51AB-7E35-8D19EB7D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  <a:solidFill>
            <a:srgbClr val="00B0F0"/>
          </a:solidFill>
        </p:spPr>
      </p:pic>
    </p:spTree>
    <p:extLst>
      <p:ext uri="{BB962C8B-B14F-4D97-AF65-F5344CB8AC3E}">
        <p14:creationId xmlns:p14="http://schemas.microsoft.com/office/powerpoint/2010/main" val="193070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B073B-5C21-EB9D-3B04-68205001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6CF78-FF0B-B462-882A-923F94BC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190" y="401346"/>
            <a:ext cx="9404723" cy="767687"/>
          </a:xfrm>
        </p:spPr>
        <p:txBody>
          <a:bodyPr/>
          <a:lstStyle/>
          <a:p>
            <a:r>
              <a:rPr lang="en-IN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Introduction 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13CACCD-ED63-5D9F-7170-C27CC14A5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190" y="1916237"/>
            <a:ext cx="10774679" cy="387390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chosen: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Telco Customer Churn CSV (WA_Fn-UseC_-Telco-Customer-Churn.csv)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Size: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7,043 customer records across 21 variables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Variable: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Churn (Yes/No)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Demographics: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gender,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SeniorCitizen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Partner, Dependents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 Information: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tenure (months with company)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Services: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PhoneService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MultipleLines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InternetService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(DSL/Fiber optic/No),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OnlineSecurity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OnlineBackup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DeviceProtection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TechSupport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StreamingTV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StreamingMovies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Billing: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Contract (Month-to-month/One year/Two year),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PaperlessBilling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PaymentMethod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MonthlyCharges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TotalCharges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7515D-0AB7-CB46-652C-2A90B0FA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1697" y="5650393"/>
            <a:ext cx="1142245" cy="669925"/>
          </a:xfrm>
        </p:spPr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2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24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36E4-8DCA-D3DF-FE8E-0C651C4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FC63-964F-FE52-BC7F-75C9D12A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87" y="319154"/>
            <a:ext cx="9404723" cy="767687"/>
          </a:xfrm>
        </p:spPr>
        <p:txBody>
          <a:bodyPr/>
          <a:lstStyle/>
          <a:p>
            <a:r>
              <a:rPr lang="en-IN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Import and Initial Inspection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F40EC-62A9-D5CF-FCC4-06AB0484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3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BE573-0D42-3E65-C85B-40BA722C3BA8}"/>
              </a:ext>
            </a:extLst>
          </p:cNvPr>
          <p:cNvSpPr txBox="1"/>
          <p:nvPr/>
        </p:nvSpPr>
        <p:spPr>
          <a:xfrm>
            <a:off x="686555" y="1252161"/>
            <a:ext cx="10897362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Import and Initial Inspection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was successfully loaded using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 creating a pandas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7,043 records and 21 variables. Initial inspection confirmed the presence of mixed data types including numeric features (tenure,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MonthlyCharges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categorical variables (Contract,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PaymentMethod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>
              <a:lnSpc>
                <a:spcPct val="150000"/>
              </a:lnSpc>
              <a:buNone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Inspection Methods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df.shape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Verified dimensions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df.head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- Previewed structure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df.info() - Checked data types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df.describe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- Summary statistics</a:t>
            </a:r>
          </a:p>
        </p:txBody>
      </p:sp>
    </p:spTree>
    <p:extLst>
      <p:ext uri="{BB962C8B-B14F-4D97-AF65-F5344CB8AC3E}">
        <p14:creationId xmlns:p14="http://schemas.microsoft.com/office/powerpoint/2010/main" val="225468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52BE-738B-72F2-CA84-F7434012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714B-9BAD-644D-246F-DA431947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99426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14EB-1C70-12D7-F129-89DF7720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4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AEA93-1661-B26E-98D5-C5EF150A651A}"/>
              </a:ext>
            </a:extLst>
          </p:cNvPr>
          <p:cNvSpPr txBox="1"/>
          <p:nvPr/>
        </p:nvSpPr>
        <p:spPr>
          <a:xfrm>
            <a:off x="646111" y="1370616"/>
            <a:ext cx="10859409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Missing Value Detection -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11 rows with missing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requiring handling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Data Type Conversion -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numeric using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pd.to_numeric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with error coercion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Record Removal -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Dropped incomplete entries with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dropna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 resulting in 7,032 valid records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Duplicate Check -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no duplicate records exist using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df.duplicated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().sum()</a:t>
            </a:r>
          </a:p>
          <a:p>
            <a:pPr>
              <a:lnSpc>
                <a:spcPct val="150000"/>
              </a:lnSpc>
              <a:buNone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ServiceCount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identifying 9 service-related features and calculating subscription totals. This derived metric enables analysis of service bundling patterns and cross-selling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00224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463D-7903-8080-8E06-00D26242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05F9-EB16-B1E2-E981-5172BA6E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90282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2230-E56E-1279-7C70-AAF8A9FB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5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BFBFFF-0F92-1694-B5D8-57C56D14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0" y="3721607"/>
            <a:ext cx="7150261" cy="2257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B8D243-9A76-0F44-FB40-FC4F94020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344168"/>
            <a:ext cx="7150262" cy="22167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E95A27-F824-260E-B5FB-A60763FAC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452" y="1344168"/>
            <a:ext cx="3803879" cy="22558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AAE4C0-3FC4-E577-F8D4-57B0CCDA5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454" y="3605859"/>
            <a:ext cx="3803877" cy="207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4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3D3C6-685F-2FA8-F9A2-7FD37568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5FE2-4942-F701-0042-2625688D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84642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97E91-8A2B-5AC6-9598-42D9ACB9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6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E9797-4259-61E8-4E4B-62483EF64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045590"/>
            <a:ext cx="10791561" cy="23892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6E372E-4FC7-D32E-3F87-6E41049E0D54}"/>
              </a:ext>
            </a:extLst>
          </p:cNvPr>
          <p:cNvSpPr txBox="1"/>
          <p:nvPr/>
        </p:nvSpPr>
        <p:spPr>
          <a:xfrm>
            <a:off x="646111" y="4637831"/>
            <a:ext cx="10726456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proportion of customers leave early in their lifecycle, indicating that new customers are more likely to churn.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wide variation in pricing suggests customers subscribe to different bundles of telecom services, which may influence churn behavior.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78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7388-8C02-07B7-065E-9C6D4F11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71D6-82FE-8B82-4833-1E07FC07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71" y="257859"/>
            <a:ext cx="8534400" cy="1507067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89345-4756-75A9-15B2-0DDE1CA6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7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B2399C-5DA7-D98E-324D-D6842BC6F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050267"/>
            <a:ext cx="4593875" cy="225655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AE532F-5C04-986D-32FD-FC75362C4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819" y="4087674"/>
            <a:ext cx="4208070" cy="23775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D817F-A6A7-E985-E8D8-63F7C2647D8E}"/>
              </a:ext>
            </a:extLst>
          </p:cNvPr>
          <p:cNvSpPr txBox="1"/>
          <p:nvPr/>
        </p:nvSpPr>
        <p:spPr>
          <a:xfrm>
            <a:off x="5239986" y="2508796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Short-term contracts provide flexibility for customers, but they also increase the likelihood of churn compared to long-term contracts.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717EB-2B02-166C-CA6F-6A79F6AEF349}"/>
              </a:ext>
            </a:extLst>
          </p:cNvPr>
          <p:cNvSpPr txBox="1"/>
          <p:nvPr/>
        </p:nvSpPr>
        <p:spPr>
          <a:xfrm>
            <a:off x="941286" y="4877506"/>
            <a:ext cx="6309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service costs may lead to customer dissatisfaction or price sensitivity, increasing the probability of churn.</a:t>
            </a:r>
          </a:p>
        </p:txBody>
      </p:sp>
    </p:spTree>
    <p:extLst>
      <p:ext uri="{BB962C8B-B14F-4D97-AF65-F5344CB8AC3E}">
        <p14:creationId xmlns:p14="http://schemas.microsoft.com/office/powerpoint/2010/main" val="202925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1D45-48F0-138E-5127-E7185CC2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8DD0-5FA6-0818-8859-D38CB5F6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85619"/>
            <a:ext cx="8534400" cy="1507067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79B51-1FF6-05A5-E369-49E60B3A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8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B6065-CE94-232C-031A-FE83DDEDF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622" y="2016371"/>
            <a:ext cx="3477858" cy="295617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901D60-C72C-1710-9414-8FC5D8618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2016371"/>
            <a:ext cx="3477858" cy="29883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05CDE8-A0CE-0D40-151A-9352A6B9A08B}"/>
              </a:ext>
            </a:extLst>
          </p:cNvPr>
          <p:cNvSpPr txBox="1"/>
          <p:nvPr/>
        </p:nvSpPr>
        <p:spPr>
          <a:xfrm>
            <a:off x="6808249" y="4972550"/>
            <a:ext cx="4737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visualization helps identify whether churned and non-churned customers form distinct clusters, indicating that the underlying numeric features contain patterns useful for predicting customer churn.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56282F-A422-EC24-F74C-0D6B5298AB5A}"/>
              </a:ext>
            </a:extLst>
          </p:cNvPr>
          <p:cNvSpPr txBox="1"/>
          <p:nvPr/>
        </p:nvSpPr>
        <p:spPr>
          <a:xfrm>
            <a:off x="508926" y="5004753"/>
            <a:ext cx="5142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who stay longer are less likely to churn, while higher monthly charges slightly increase churn probability, making these key variables for churn prediction.</a:t>
            </a:r>
          </a:p>
        </p:txBody>
      </p:sp>
    </p:spTree>
    <p:extLst>
      <p:ext uri="{BB962C8B-B14F-4D97-AF65-F5344CB8AC3E}">
        <p14:creationId xmlns:p14="http://schemas.microsoft.com/office/powerpoint/2010/main" val="4152857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EE42-96AC-F9EA-3A37-5513D461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21CDCF-B70C-E296-E0D6-2963BA85649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646111" y="1751172"/>
            <a:ext cx="10254770" cy="350665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957ECA-9034-228F-204B-0B01FFAC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44105"/>
            <a:ext cx="8534400" cy="1507067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87662-ED01-BDB3-FBA0-503E5270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9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6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9075-1D09-50FD-3750-C5AF10FF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BE36E7-DF28-2AC7-0B5B-784C452D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55" y="1556849"/>
            <a:ext cx="9279378" cy="49721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89B899-3E7E-627A-407A-A1FE9B33E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59" y="223557"/>
            <a:ext cx="8534400" cy="1507067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8E54-C558-3A79-1231-3354BE74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10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552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9343-73A6-3413-106B-6F73B612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AE90393-480A-B8C9-BAED-50BF0A500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73266"/>
            <a:ext cx="9404723" cy="767687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Python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66ADC-F12E-87B8-0864-6EF0BA1F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11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B0DBC3-49EA-9DC2-36BE-0D64033A7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656039"/>
              </p:ext>
            </p:extLst>
          </p:nvPr>
        </p:nvGraphicFramePr>
        <p:xfrm>
          <a:off x="646111" y="1380847"/>
          <a:ext cx="10842753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251">
                  <a:extLst>
                    <a:ext uri="{9D8B030D-6E8A-4147-A177-3AD203B41FA5}">
                      <a16:colId xmlns:a16="http://schemas.microsoft.com/office/drawing/2014/main" val="1697236453"/>
                    </a:ext>
                  </a:extLst>
                </a:gridCol>
                <a:gridCol w="3614251">
                  <a:extLst>
                    <a:ext uri="{9D8B030D-6E8A-4147-A177-3AD203B41FA5}">
                      <a16:colId xmlns:a16="http://schemas.microsoft.com/office/drawing/2014/main" val="2715988652"/>
                    </a:ext>
                  </a:extLst>
                </a:gridCol>
                <a:gridCol w="3614251">
                  <a:extLst>
                    <a:ext uri="{9D8B030D-6E8A-4147-A177-3AD203B41FA5}">
                      <a16:colId xmlns:a16="http://schemas.microsoft.com/office/drawing/2014/main" val="1015018853"/>
                    </a:ext>
                  </a:extLst>
                </a:gridCol>
              </a:tblGrid>
              <a:tr h="429768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Lambda Functions</a:t>
                      </a:r>
                    </a:p>
                    <a:p>
                      <a:endParaRPr lang="en-IN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was done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Used lambda functions to perform simple transformations, converting the categorical Churn variable into a numeric flag and grouping tenure into lifecycle stages.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Result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Created new features:</a:t>
                      </a:r>
                    </a:p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ChurnFlag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(0 = No churn, 1 = Churn) for statistical analysis</a:t>
                      </a:r>
                    </a:p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TenureGroup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(New, Recent, Established, Loyal) for customer segmentation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Lambda-based transformations simplified feature engineering and revealed that new customers have a higher churn risk compared to loyal customers.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User-Defined Functions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was done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 Python functions were created to automate repetitive tasks such as generating dataset summaries, counting services, and detecting outliers using the IQR method.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Result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Reusable functions enabled automated data profiling, outlier detection, and efficient analysis across multiple columns.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User-defined functions improved code efficiency, readability, and reusability, making the EDA workflow more scalable and consistent.</a:t>
                      </a:r>
                    </a:p>
                    <a:p>
                      <a:endParaRPr lang="en-IN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List Comprehensions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was done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Used list comprehension to efficiently identify specific columns, such as service-related features and columns with missing values.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Result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Automatically extracted relevant columns without manually specifying each one.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  <a:b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Improved code efficiency, readability, and scalability for processing datasets with many variables.</a:t>
                      </a:r>
                    </a:p>
                    <a:p>
                      <a:pPr>
                        <a:buNone/>
                      </a:pPr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IN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1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020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F430C-E55E-61FC-7FA1-8379DE49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5742-D680-39DF-30FE-A8AC2C73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58" y="192734"/>
            <a:ext cx="8534400" cy="1507067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and 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F5535-3AF1-434D-17C7-57FF2B83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1FF6DA9-008F-8B48-92A6-B652298478BF}" type="slidenum">
              <a:rPr lang="en-US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defTabSz="457200"/>
              <a:t>12</a:t>
            </a:fld>
            <a:endParaRPr lang="en-US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F2A05-19FA-6E17-2C92-7D59CA058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58" y="1423335"/>
            <a:ext cx="10942393" cy="4946641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6744035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188</TotalTime>
  <Words>708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Slice</vt:lpstr>
      <vt:lpstr>PowerPoint Presentation</vt:lpstr>
      <vt:lpstr>Dataset Introduction </vt:lpstr>
      <vt:lpstr>Data Import and Initial Inspection</vt:lpstr>
      <vt:lpstr>Data Cleaning</vt:lpstr>
      <vt:lpstr>Exploratory Data Analysis (EDA)</vt:lpstr>
      <vt:lpstr>Exploratory Data Analysis (EDA) Data Visualisation</vt:lpstr>
      <vt:lpstr>Exploratory Data Analysis (EDA) Data Visualisation</vt:lpstr>
      <vt:lpstr>Exploratory Data Analysis (EDA) Data Visualisation</vt:lpstr>
      <vt:lpstr>Exploratory Data Analysis (EDA) Group Analysis</vt:lpstr>
      <vt:lpstr>Exploratory Data Analysis (EDA) Feature Analysis</vt:lpstr>
      <vt:lpstr>Advanced Python Techniques</vt:lpstr>
      <vt:lpstr>Insights and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Swarna Boyina</dc:creator>
  <cp:lastModifiedBy>anand salimath</cp:lastModifiedBy>
  <cp:revision>3</cp:revision>
  <dcterms:created xsi:type="dcterms:W3CDTF">2026-03-12T10:52:44Z</dcterms:created>
  <dcterms:modified xsi:type="dcterms:W3CDTF">2026-03-13T06:06:34Z</dcterms:modified>
</cp:coreProperties>
</file>